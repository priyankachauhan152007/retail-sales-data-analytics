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22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686800" y="731520"/>
            <a:ext cx="2560320" cy="2560320"/>
          </a:xfrm>
          <a:prstGeom prst="roundRect">
            <a:avLst/>
          </a:prstGeom>
          <a:solidFill>
            <a:srgbClr val="2D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646920" y="2971800"/>
            <a:ext cx="1600200" cy="1600200"/>
          </a:xfrm>
          <a:prstGeom prst="round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955279" y="4023360"/>
            <a:ext cx="1097280" cy="1097280"/>
          </a:xfrm>
          <a:prstGeom prst="roundRect">
            <a:avLst/>
          </a:prstGeom>
          <a:solidFill>
            <a:srgbClr val="E6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040880" cy="6858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RETAIL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93392"/>
            <a:ext cx="7040880" cy="5486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500" b="1">
                <a:solidFill>
                  <a:srgbClr val="8EDCDE"/>
                </a:solidFill>
                <a:latin typeface="Aptos"/>
              </a:defRPr>
            </a:pPr>
            <a:r>
              <a:t>DATA ANALYTICS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816352"/>
            <a:ext cx="667512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900" b="0">
                <a:solidFill>
                  <a:srgbClr val="FFFFFF"/>
                </a:solidFill>
                <a:latin typeface="Aptos"/>
              </a:defRPr>
            </a:pPr>
            <a:r>
              <a:t>From raw transactions to business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800600"/>
            <a:ext cx="6035040" cy="32918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t>Prepared by: Priyanka Chauhan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943600"/>
            <a:ext cx="73152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100" b="0">
                <a:solidFill>
                  <a:srgbClr val="D7E1ED"/>
                </a:solidFill>
                <a:latin typeface="Aptos"/>
              </a:defRPr>
            </a:pPr>
            <a:r>
              <a:t>Week 6 • Git, GitHub &amp; Final Data Analytics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700" b="1">
                <a:solidFill>
                  <a:srgbClr val="162B4C"/>
                </a:solidFill>
                <a:latin typeface="Aptos"/>
              </a:defRPr>
            </a:pPr>
            <a:r>
              <a:t>01 | Dataset &amp;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822960" cy="50292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200" b="0">
                <a:solidFill>
                  <a:srgbClr val="5F6B78"/>
                </a:solidFill>
                <a:latin typeface="Aptos"/>
              </a:defRPr>
            </a:pPr>
            <a:r>
              <a:t>A transaction-level view of retail 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1000" b="1">
                <a:solidFill>
                  <a:srgbClr val="5F6B7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01952"/>
            <a:ext cx="219456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000" b="1">
                <a:solidFill>
                  <a:srgbClr val="5F6B78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2194560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500" b="1">
                <a:solidFill>
                  <a:srgbClr val="2D66B3"/>
                </a:solidFill>
                <a:latin typeface="Aptos"/>
              </a:defRPr>
            </a:pPr>
            <a:r>
              <a:t>1,000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73736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1901952"/>
            <a:ext cx="219456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000" b="1">
                <a:solidFill>
                  <a:srgbClr val="5F6B78"/>
                </a:solidFill>
                <a:latin typeface="Aptos"/>
              </a:defRPr>
            </a:pPr>
            <a:r>
              <a:t>ORIGINAL 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40280"/>
            <a:ext cx="2194560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500" b="1">
                <a:solidFill>
                  <a:srgbClr val="008991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3736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901952"/>
            <a:ext cx="219456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000" b="1">
                <a:solidFill>
                  <a:srgbClr val="5F6B78"/>
                </a:solidFill>
                <a:latin typeface="Aptos"/>
              </a:defRPr>
            </a:pPr>
            <a:r>
              <a:t>TOTAL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240280"/>
            <a:ext cx="2194560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500" b="1">
                <a:solidFill>
                  <a:srgbClr val="E6AA36"/>
                </a:solidFill>
                <a:latin typeface="Aptos"/>
              </a:defRPr>
            </a:pPr>
            <a:r>
              <a:t>₹456,000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73736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0" y="1901952"/>
            <a:ext cx="219456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000" b="1">
                <a:solidFill>
                  <a:srgbClr val="5F6B78"/>
                </a:solidFill>
                <a:latin typeface="Aptos"/>
              </a:defRPr>
            </a:pPr>
            <a:r>
              <a:t>AVG. TRANSACTION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240280"/>
            <a:ext cx="2194560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500" b="1">
                <a:solidFill>
                  <a:srgbClr val="2D66B3"/>
                </a:solidFill>
                <a:latin typeface="Aptos"/>
              </a:defRPr>
            </a:pPr>
            <a:r>
              <a:t>₹456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37560"/>
            <a:ext cx="283464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700" b="1">
                <a:solidFill>
                  <a:srgbClr val="162B4C"/>
                </a:solidFill>
                <a:latin typeface="Aptos"/>
              </a:defRPr>
            </a:pPr>
            <a:r>
              <a:t>Dataset fields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03320"/>
            <a:ext cx="4937760" cy="1645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•  Transaction ID, Date, Customer ID</a:t>
            </a:r>
          </a:p>
          <a:p>
            <a:pPr>
              <a:spcAft>
                <a:spcPts val="8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•  Gender, Age, Product Category</a:t>
            </a:r>
          </a:p>
          <a:p>
            <a:pPr>
              <a:spcAft>
                <a:spcPts val="8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•  Quantity, Price per Unit, Total Amount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337560"/>
            <a:ext cx="22860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700" b="1">
                <a:solidFill>
                  <a:srgbClr val="162B4C"/>
                </a:solidFill>
                <a:latin typeface="Aptos"/>
              </a:defRPr>
            </a:pPr>
            <a:r>
              <a:t>Tools used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703320"/>
            <a:ext cx="5120640" cy="2057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•  Python and pandas for inspection and analysis</a:t>
            </a:r>
          </a:p>
          <a:p>
            <a:pPr>
              <a:spcAft>
                <a:spcPts val="8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•  Matplotlib for visualizations</a:t>
            </a:r>
          </a:p>
          <a:p>
            <a:pPr>
              <a:spcAft>
                <a:spcPts val="8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•  Power BI for the interactive dashboard</a:t>
            </a:r>
          </a:p>
          <a:p>
            <a:pPr>
              <a:spcAft>
                <a:spcPts val="8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•  Git and GitHub for version control and submission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700" b="1">
                <a:solidFill>
                  <a:srgbClr val="162B4C"/>
                </a:solidFill>
                <a:latin typeface="Aptos"/>
              </a:defRPr>
            </a:pPr>
            <a:r>
              <a:t>02 | Data Preparation &amp; EDA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822960" cy="50292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200" b="0">
                <a:solidFill>
                  <a:srgbClr val="5F6B78"/>
                </a:solidFill>
                <a:latin typeface="Aptos"/>
              </a:defRPr>
            </a:pPr>
            <a:r>
              <a:t>Validate the dataset before interpreting the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1000" b="1">
                <a:solidFill>
                  <a:srgbClr val="5F6B7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0749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480060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000" b="1">
                <a:solidFill>
                  <a:srgbClr val="5F6B7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800600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500" b="1">
                <a:solidFill>
                  <a:srgbClr val="2D66B3"/>
                </a:solidFill>
                <a:latin typeface="Aptos"/>
              </a:defRPr>
            </a:pPr>
            <a:r>
              <a:t>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20824"/>
            <a:ext cx="3749039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200" b="0">
                <a:solidFill>
                  <a:srgbClr val="5F6B78"/>
                </a:solidFill>
                <a:latin typeface="Aptos"/>
              </a:defRPr>
            </a:pPr>
            <a:r>
              <a:t>Imported retail_sale.csv using pandas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43200"/>
            <a:ext cx="50749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907792"/>
            <a:ext cx="480060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000" b="1">
                <a:solidFill>
                  <a:srgbClr val="5F6B7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4800600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500" b="1">
                <a:solidFill>
                  <a:srgbClr val="008991"/>
                </a:solidFill>
                <a:latin typeface="Aptos"/>
              </a:defRPr>
            </a:pPr>
            <a:r>
              <a:t>Inspect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072384"/>
            <a:ext cx="3749039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200" b="0">
                <a:solidFill>
                  <a:srgbClr val="5F6B78"/>
                </a:solidFill>
                <a:latin typeface="Aptos"/>
              </a:defRPr>
            </a:pPr>
            <a:r>
              <a:t>Checked shape, columns, data types and summary statistics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794760"/>
            <a:ext cx="50749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959352"/>
            <a:ext cx="480060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000" b="1">
                <a:solidFill>
                  <a:srgbClr val="5F6B7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4800600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500" b="1">
                <a:solidFill>
                  <a:srgbClr val="2D66B3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123944"/>
            <a:ext cx="3749039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200" b="0">
                <a:solidFill>
                  <a:srgbClr val="5F6B78"/>
                </a:solidFill>
                <a:latin typeface="Aptos"/>
              </a:defRPr>
            </a:pPr>
            <a:r>
              <a:t>Checked missing values, duplicate rows, dates and numeric fields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846320"/>
            <a:ext cx="50749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80060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000" b="1">
                <a:solidFill>
                  <a:srgbClr val="5F6B7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49240"/>
            <a:ext cx="4800600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500" b="1">
                <a:solidFill>
                  <a:srgbClr val="008991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5175504"/>
            <a:ext cx="3749039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200" b="0">
                <a:solidFill>
                  <a:srgbClr val="5F6B78"/>
                </a:solidFill>
                <a:latin typeface="Aptos"/>
              </a:defRPr>
            </a:pPr>
            <a:r>
              <a:t>Grouped sales by category, gender and 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783080"/>
            <a:ext cx="420624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900" b="1">
                <a:solidFill>
                  <a:srgbClr val="162B4C"/>
                </a:solidFill>
                <a:latin typeface="Aptos"/>
              </a:defRPr>
            </a:pPr>
            <a:r>
              <a:t>Validation results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331720"/>
            <a:ext cx="20574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2496312"/>
            <a:ext cx="17830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000" b="1">
                <a:solidFill>
                  <a:srgbClr val="5F6B78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834639"/>
            <a:ext cx="1783080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500" b="1">
                <a:solidFill>
                  <a:srgbClr val="008991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23960" y="2331720"/>
            <a:ext cx="20574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0" y="2496312"/>
            <a:ext cx="17830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000" b="1">
                <a:solidFill>
                  <a:srgbClr val="5F6B78"/>
                </a:solidFill>
                <a:latin typeface="Aptos"/>
              </a:defRPr>
            </a:pPr>
            <a:r>
              <a:t>DUPLICATES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2834639"/>
            <a:ext cx="1783080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500" b="1">
                <a:solidFill>
                  <a:srgbClr val="2D66B3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886200"/>
            <a:ext cx="484632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8303A"/>
                </a:solidFill>
                <a:latin typeface="Aptos"/>
              </a:defRPr>
            </a:pPr>
            <a:r>
              <a:t>•  Dates were converted for time-based analysis.</a:t>
            </a:r>
          </a:p>
          <a:p>
            <a:pPr>
              <a:spcAft>
                <a:spcPts val="900"/>
              </a:spcAft>
              <a:defRPr sz="1400">
                <a:solidFill>
                  <a:srgbClr val="28303A"/>
                </a:solidFill>
                <a:latin typeface="Aptos"/>
              </a:defRPr>
            </a:pPr>
            <a:r>
              <a:t>•  Numeric fields were checked for valid values.</a:t>
            </a:r>
          </a:p>
          <a:p>
            <a:pPr>
              <a:spcAft>
                <a:spcPts val="900"/>
              </a:spcAft>
              <a:defRPr sz="1400">
                <a:solidFill>
                  <a:srgbClr val="28303A"/>
                </a:solidFill>
                <a:latin typeface="Aptos"/>
              </a:defRPr>
            </a:pPr>
            <a:r>
              <a:t>•  Calculated transaction amounts matched Total Amount in all rows.</a:t>
            </a:r>
          </a:p>
          <a:p>
            <a:pPr>
              <a:spcAft>
                <a:spcPts val="900"/>
              </a:spcAft>
              <a:defRPr sz="1400">
                <a:solidFill>
                  <a:srgbClr val="28303A"/>
                </a:solidFill>
                <a:latin typeface="Aptos"/>
              </a:defRPr>
            </a:pPr>
            <a:r>
              <a:t>•  No rows needed to be removed for missing or duplicate values.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700" b="1">
                <a:solidFill>
                  <a:srgbClr val="162B4C"/>
                </a:solidFill>
                <a:latin typeface="Aptos"/>
              </a:defRPr>
            </a:pPr>
            <a:r>
              <a:t>03 | Visualizations &amp;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822960" cy="50292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200" b="0">
                <a:solidFill>
                  <a:srgbClr val="5F6B78"/>
                </a:solidFill>
                <a:latin typeface="Aptos"/>
              </a:defRPr>
            </a:pPr>
            <a:r>
              <a:t>The analysis compares revenue, units sold, customer gender and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1000" b="1">
                <a:solidFill>
                  <a:srgbClr val="5F6B7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800" b="1">
                <a:solidFill>
                  <a:srgbClr val="162B4C"/>
                </a:solidFill>
                <a:latin typeface="Aptos"/>
              </a:defRPr>
            </a:pPr>
            <a:r>
              <a:t>Five charts included in the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4846320" cy="2286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•  Sales by product category</a:t>
            </a:r>
          </a:p>
          <a:p>
            <a:pPr>
              <a:spcAft>
                <a:spcPts val="10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•  Sales by gender</a:t>
            </a:r>
          </a:p>
          <a:p>
            <a:pPr>
              <a:spcAft>
                <a:spcPts val="10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•  Monthly sales trend</a:t>
            </a:r>
          </a:p>
          <a:p>
            <a:pPr>
              <a:spcAft>
                <a:spcPts val="10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•  Quantity sold by category</a:t>
            </a:r>
          </a:p>
          <a:p>
            <a:pPr>
              <a:spcAft>
                <a:spcPts val="10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•  Sales by age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691640"/>
            <a:ext cx="429768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800" b="1">
                <a:solidFill>
                  <a:srgbClr val="162B4C"/>
                </a:solidFill>
                <a:latin typeface="Aptos"/>
              </a:defRPr>
            </a:pPr>
            <a:r>
              <a:t>Headline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219456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2359152"/>
            <a:ext cx="20116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000" b="1">
                <a:solidFill>
                  <a:srgbClr val="5F6B78"/>
                </a:solidFill>
                <a:latin typeface="Aptos"/>
              </a:defRPr>
            </a:pPr>
            <a:r>
              <a:t>TOP REVENUE 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697480"/>
            <a:ext cx="2011680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500" b="1">
                <a:solidFill>
                  <a:srgbClr val="2D66B3"/>
                </a:solidFill>
                <a:latin typeface="Aptos"/>
              </a:defRPr>
            </a:pPr>
            <a:r>
              <a:t>Electronics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219456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32520" y="2359152"/>
            <a:ext cx="20116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000" b="1">
                <a:solidFill>
                  <a:srgbClr val="5F6B78"/>
                </a:solidFill>
                <a:latin typeface="Aptos"/>
              </a:defRPr>
            </a:pPr>
            <a:r>
              <a:t>HIGHEST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2697480"/>
            <a:ext cx="2011680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500" b="1">
                <a:solidFill>
                  <a:srgbClr val="008991"/>
                </a:solidFill>
                <a:latin typeface="Aptos"/>
              </a:defRPr>
            </a:pPr>
            <a:r>
              <a:t>May 2023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361188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3776472"/>
            <a:ext cx="20116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000" b="1">
                <a:solidFill>
                  <a:srgbClr val="5F6B78"/>
                </a:solidFill>
                <a:latin typeface="Aptos"/>
              </a:defRPr>
            </a:pPr>
            <a:r>
              <a:t>FEMALE SALES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114800"/>
            <a:ext cx="2011680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500" b="1">
                <a:solidFill>
                  <a:srgbClr val="E6AA36"/>
                </a:solidFill>
                <a:latin typeface="Aptos"/>
              </a:defRPr>
            </a:pPr>
            <a:r>
              <a:t>₹232,840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361188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32520" y="3776472"/>
            <a:ext cx="20116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000" b="1">
                <a:solidFill>
                  <a:srgbClr val="5F6B78"/>
                </a:solidFill>
                <a:latin typeface="Aptos"/>
              </a:defRPr>
            </a:pPr>
            <a:r>
              <a:t>MALE SALES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114800"/>
            <a:ext cx="2011680" cy="4754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500" b="1">
                <a:solidFill>
                  <a:srgbClr val="2D66B3"/>
                </a:solidFill>
                <a:latin typeface="Aptos"/>
              </a:defRPr>
            </a:pPr>
            <a:r>
              <a:t>₹223,160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69280"/>
            <a:ext cx="1060704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200" b="0">
                <a:solidFill>
                  <a:srgbClr val="5F6B78"/>
                </a:solidFill>
                <a:latin typeface="Aptos"/>
              </a:defRPr>
            </a:pPr>
            <a:r>
              <a:t>Note: January 2024 contains only ₹1,530 in recorded sales and may represent a partial month; compare it cautiously with full months.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700" b="1">
                <a:solidFill>
                  <a:srgbClr val="162B4C"/>
                </a:solidFill>
                <a:latin typeface="Aptos"/>
              </a:defRPr>
            </a:pPr>
            <a:r>
              <a:t>04 | Power BI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822960" cy="50292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200" b="0">
                <a:solidFill>
                  <a:srgbClr val="5F6B78"/>
                </a:solidFill>
                <a:latin typeface="Aptos"/>
              </a:defRPr>
            </a:pPr>
            <a:r>
              <a:t>Interactive summary for exploring retail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1000" b="1">
                <a:solidFill>
                  <a:srgbClr val="5F6B7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349829"/>
            <a:ext cx="6998208" cy="463949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26679" y="1783080"/>
            <a:ext cx="365760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800" b="1">
                <a:solidFill>
                  <a:srgbClr val="162B4C"/>
                </a:solidFill>
                <a:latin typeface="Aptos"/>
              </a:defRPr>
            </a:pPr>
            <a:r>
              <a:t>Suggested dashboard elements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286000"/>
            <a:ext cx="3657600" cy="3291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8303A"/>
                </a:solidFill>
                <a:latin typeface="Aptos"/>
              </a:defRPr>
            </a:pPr>
            <a:r>
              <a:t>•  KPI cards: Total Sales, Transactions, Quantity Sold</a:t>
            </a:r>
          </a:p>
          <a:p>
            <a:pPr>
              <a:spcAft>
                <a:spcPts val="1000"/>
              </a:spcAft>
              <a:defRPr sz="1400">
                <a:solidFill>
                  <a:srgbClr val="28303A"/>
                </a:solidFill>
                <a:latin typeface="Aptos"/>
              </a:defRPr>
            </a:pPr>
            <a:r>
              <a:t>•  Sales by Product Category</a:t>
            </a:r>
          </a:p>
          <a:p>
            <a:pPr>
              <a:spcAft>
                <a:spcPts val="1000"/>
              </a:spcAft>
              <a:defRPr sz="1400">
                <a:solidFill>
                  <a:srgbClr val="28303A"/>
                </a:solidFill>
                <a:latin typeface="Aptos"/>
              </a:defRPr>
            </a:pPr>
            <a:r>
              <a:t>•  Sales by Gender</a:t>
            </a:r>
          </a:p>
          <a:p>
            <a:pPr>
              <a:spcAft>
                <a:spcPts val="1000"/>
              </a:spcAft>
              <a:defRPr sz="1400">
                <a:solidFill>
                  <a:srgbClr val="28303A"/>
                </a:solidFill>
                <a:latin typeface="Aptos"/>
              </a:defRPr>
            </a:pPr>
            <a:r>
              <a:t>•  Monthly Sales Trend</a:t>
            </a:r>
          </a:p>
          <a:p>
            <a:pPr>
              <a:spcAft>
                <a:spcPts val="1000"/>
              </a:spcAft>
              <a:defRPr sz="1400">
                <a:solidFill>
                  <a:srgbClr val="28303A"/>
                </a:solidFill>
                <a:latin typeface="Aptos"/>
              </a:defRPr>
            </a:pPr>
            <a:r>
              <a:t>•  Quantity by Category (4th visual)</a:t>
            </a:r>
          </a:p>
          <a:p>
            <a:pPr>
              <a:spcAft>
                <a:spcPts val="1000"/>
              </a:spcAft>
              <a:defRPr sz="1400">
                <a:solidFill>
                  <a:srgbClr val="28303A"/>
                </a:solidFill>
                <a:latin typeface="Aptos"/>
              </a:defRPr>
            </a:pPr>
            <a:r>
              <a:t>•  Slicers: Gender, Product Category and 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5623560"/>
            <a:ext cx="3749039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100" b="0">
                <a:solidFill>
                  <a:srgbClr val="5F6B78"/>
                </a:solidFill>
                <a:latin typeface="Aptos"/>
              </a:defRPr>
            </a:pPr>
            <a:r>
              <a:t>Replace the placeholder with a screenshot from your actual Power BI report before submission.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700" b="1">
                <a:solidFill>
                  <a:srgbClr val="162B4C"/>
                </a:solidFill>
                <a:latin typeface="Aptos"/>
              </a:defRPr>
            </a:pPr>
            <a:r>
              <a:t>05 | Business Insights &amp;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822960" cy="50292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200" b="0">
                <a:solidFill>
                  <a:srgbClr val="5F6B78"/>
                </a:solidFill>
                <a:latin typeface="Aptos"/>
              </a:defRPr>
            </a:pPr>
            <a:r>
              <a:t>Use findings to guide practical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1000" b="1">
                <a:solidFill>
                  <a:srgbClr val="5F6B7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420624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900" b="1">
                <a:solidFill>
                  <a:srgbClr val="162B4C"/>
                </a:solidFill>
                <a:latin typeface="Aptos"/>
              </a:defRPr>
            </a:pPr>
            <a:r>
              <a:t>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5394960" cy="3474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8303A"/>
                </a:solidFill>
                <a:latin typeface="Aptos"/>
              </a:defRPr>
            </a:pPr>
            <a:r>
              <a:t>•  Total recorded revenue is ₹456,000 across 1,000 transactions.</a:t>
            </a:r>
          </a:p>
          <a:p>
            <a:pPr>
              <a:spcAft>
                <a:spcPts val="900"/>
              </a:spcAft>
              <a:defRPr sz="1400">
                <a:solidFill>
                  <a:srgbClr val="28303A"/>
                </a:solidFill>
                <a:latin typeface="Aptos"/>
              </a:defRPr>
            </a:pPr>
            <a:r>
              <a:t>•  Electronics has the highest category revenue at ₹156,905.</a:t>
            </a:r>
          </a:p>
          <a:p>
            <a:pPr>
              <a:spcAft>
                <a:spcPts val="900"/>
              </a:spcAft>
              <a:defRPr sz="1400">
                <a:solidFill>
                  <a:srgbClr val="28303A"/>
                </a:solidFill>
                <a:latin typeface="Aptos"/>
              </a:defRPr>
            </a:pPr>
            <a:r>
              <a:t>•  Clothing has the highest quantity sold at 894 units.</a:t>
            </a:r>
          </a:p>
          <a:p>
            <a:pPr>
              <a:spcAft>
                <a:spcPts val="900"/>
              </a:spcAft>
              <a:defRPr sz="1400">
                <a:solidFill>
                  <a:srgbClr val="28303A"/>
                </a:solidFill>
                <a:latin typeface="Aptos"/>
              </a:defRPr>
            </a:pPr>
            <a:r>
              <a:t>•  Female-customer sales (₹232,840) exceed male-customer sales (₹223,160).</a:t>
            </a:r>
          </a:p>
          <a:p>
            <a:pPr>
              <a:spcAft>
                <a:spcPts val="900"/>
              </a:spcAft>
              <a:defRPr sz="1400">
                <a:solidFill>
                  <a:srgbClr val="28303A"/>
                </a:solidFill>
                <a:latin typeface="Aptos"/>
              </a:defRPr>
            </a:pPr>
            <a:r>
              <a:t>•  May 2023 is the highest-sales month (₹53,150); September 2023 is the lowest full month (₹23,620).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20624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900" b="1">
                <a:solidFill>
                  <a:srgbClr val="162B4C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983480" cy="3474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8303A"/>
                </a:solidFill>
                <a:latin typeface="Aptos"/>
              </a:defRPr>
            </a:pPr>
            <a:r>
              <a:t>•  Review Electronics pricing, margins and stock availability to sustain revenue performance.</a:t>
            </a:r>
          </a:p>
          <a:p>
            <a:pPr>
              <a:spcAft>
                <a:spcPts val="1200"/>
              </a:spcAft>
              <a:defRPr sz="1400">
                <a:solidFill>
                  <a:srgbClr val="28303A"/>
                </a:solidFill>
                <a:latin typeface="Aptos"/>
              </a:defRPr>
            </a:pPr>
            <a:r>
              <a:t>•  Use category-level quantity and revenue together when planning inventory.</a:t>
            </a:r>
          </a:p>
          <a:p>
            <a:pPr>
              <a:spcAft>
                <a:spcPts val="1200"/>
              </a:spcAft>
              <a:defRPr sz="1400">
                <a:solidFill>
                  <a:srgbClr val="28303A"/>
                </a:solidFill>
                <a:latin typeface="Aptos"/>
              </a:defRPr>
            </a:pPr>
            <a:r>
              <a:t>•  Investigate the causes of monthly sales variation before making staffing or promotion decisions.</a:t>
            </a:r>
          </a:p>
          <a:p>
            <a:pPr>
              <a:spcAft>
                <a:spcPts val="1200"/>
              </a:spcAft>
              <a:defRPr sz="1400">
                <a:solidFill>
                  <a:srgbClr val="28303A"/>
                </a:solidFill>
                <a:latin typeface="Aptos"/>
              </a:defRPr>
            </a:pPr>
            <a:r>
              <a:t>•  Use customer and date slicers in Power BI to explore segments; validate patterns with more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1078992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200" b="0">
                <a:solidFill>
                  <a:srgbClr val="5F6B78"/>
                </a:solidFill>
                <a:latin typeface="Aptos"/>
              </a:defRPr>
            </a:pPr>
            <a:r>
              <a:t>Conclusion: This project demonstrates a reproducible workflow from data validation and EDA to visualization, dashboarding and version-controlled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538</Words>
  <Application>Microsoft Office PowerPoint</Application>
  <PresentationFormat>Widescreen</PresentationFormat>
  <Paragraphs>94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2026-10-25T16:48:19Z</dcterms:modified>
  <cp:category/>
</cp:coreProperties>
</file>